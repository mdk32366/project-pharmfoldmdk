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LOO percentile</c:v>
                </c:pt>
              </c:strCache>
            </c:strRef>
          </c:tx>
          <c:spPr>
            <a:solidFill>
              <a:srgbClr val="0F6E7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2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E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6E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6E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6E7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6E7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6E7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6E7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F6E7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F6E78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F6E7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F6E78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EGFR</c:v>
                  </c:pt>
                  <c:pt idx="1">
                    <c:v>CDCP1</c:v>
                  </c:pt>
                  <c:pt idx="2">
                    <c:v>ERBB2</c:v>
                  </c:pt>
                  <c:pt idx="3">
                    <c:v>NECTIN4</c:v>
                  </c:pt>
                  <c:pt idx="4">
                    <c:v>MERTK</c:v>
                  </c:pt>
                  <c:pt idx="5">
                    <c:v>SLC3A2</c:v>
                  </c:pt>
                  <c:pt idx="6">
                    <c:v>JAG1</c:v>
                  </c:pt>
                  <c:pt idx="7">
                    <c:v>CD276</c:v>
                  </c:pt>
                  <c:pt idx="8">
                    <c:v>CDH11</c:v>
                  </c:pt>
                  <c:pt idx="9">
                    <c:v>FGFR3</c:v>
                  </c:pt>
                  <c:pt idx="10">
                    <c:v>UPK1B</c:v>
                  </c:pt>
                  <c:pt idx="11">
                    <c:v>SLC39A6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0.955</c:v>
                </c:pt>
                <c:pt idx="1">
                  <c:v>0.902</c:v>
                </c:pt>
                <c:pt idx="2">
                  <c:v>0.866</c:v>
                </c:pt>
                <c:pt idx="3">
                  <c:v>0.848</c:v>
                </c:pt>
                <c:pt idx="4">
                  <c:v>0.812</c:v>
                </c:pt>
                <c:pt idx="5">
                  <c:v>0.634</c:v>
                </c:pt>
                <c:pt idx="6">
                  <c:v>0.58</c:v>
                </c:pt>
                <c:pt idx="7">
                  <c:v>0.562</c:v>
                </c:pt>
                <c:pt idx="8">
                  <c:v>0.384</c:v>
                </c:pt>
                <c:pt idx="9">
                  <c:v>0.384</c:v>
                </c:pt>
                <c:pt idx="10">
                  <c:v>0.312</c:v>
                </c:pt>
                <c:pt idx="11">
                  <c:v>0.17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E2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C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0F6E7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3FA7B0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STRUCTURE-DERIVED TARGET RANKING FOR ADCS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protein structure reorder</a:t>
            </a:r>
            <a:endParaRPr lang="en-US" sz="40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expression-based ADC target ranking?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pre-registered study on the Kathad et al. 82-target cohort, folded with ESMFold and scored on six structural features. The headline is a null that fired — and that is the result.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Kelly</a:t>
            </a:r>
            <a:pPr algn="l" indent="0" marL="0">
              <a:buNone/>
            </a:pPr>
            <a:r>
              <a:rPr lang="en-US" sz="1400" dirty="0">
                <a:solidFill>
                  <a:srgbClr val="9FB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for Prof. Farid Razzak   · 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ADCs need a target that is not just over-expressed, but structurally reachable.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antibody-drug conjugate delivers a cytotoxic payload to a tumour antigen. Whether that works depends on the antigen's extracellular domain — its size, its exposure, how far its epitopes sit from the membrane. Expression tells you the target is there. It doesn't tell you the antibody can get to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6766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0F6E78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00" i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structure-derived ADC-suitability features reorder an expression-based target ranking — and if so, do they measure something expression misses?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680960" y="1783080"/>
            <a:ext cx="3931920" cy="3977640"/>
          </a:xfrm>
          <a:prstGeom prst="roundRect">
            <a:avLst>
              <a:gd name="adj" fmla="val 1860"/>
            </a:avLst>
          </a:prstGeom>
          <a:solidFill>
            <a:srgbClr val="0E2A2E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comparator, not the oracle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955280" y="2743200"/>
            <a:ext cx="3429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Kathad et al. 2024 (PLOS ONE)</a:t>
            </a:r>
            <a:endParaRPr lang="en-US" sz="13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82 ADC targets on expression and tumour-selectivity. This project treats that ranking as a </a:t>
            </a:r>
            <a:pPr algn="l"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 reorder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as ground truth.</a:t>
            </a:r>
            <a:endParaRPr lang="en-US" sz="1350" dirty="0"/>
          </a:p>
          <a:p>
            <a:pPr algn="l" indent="0" marL="0">
              <a:lnSpc>
                <a:spcPts val="2000"/>
              </a:lnSpc>
              <a:buNone/>
            </a:pPr>
            <a:endParaRPr lang="en-US" sz="13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FB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label is “attempted / expression-suitable,” not “clinically viable.” Beating it was never the goal; measuring a different axis was.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M.S. Machine Learning · F-004 pre-registered result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SITS IN THE LITERATURE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camps that never meet on this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4F1EA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TARGET-RANKING CAMP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targets on expression / omics.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Folds nothing.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Kathad 2024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ImmunoTar 2025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Target Vault 2023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178308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4F1EA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5820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CAMP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58200" y="22860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predicted structure — for binder design or epitope choice.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one target, doesn't rank across many.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58200" y="32918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ESMFold2 / Biohub 2026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Site4Drug 2026</a:t>
            </a:r>
            <a:endParaRPr lang="en-US" sz="14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SEPPA / SITA, ADCNet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05740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0F6E78"/>
          </a:solidFill>
          <a:ln/>
          <a:effectLst>
            <a:outerShdw sx="100000" sy="100000" kx="0" ky="0" algn="bl" rotWithShape="0" blurRad="101600" dist="38100" dir="5400000">
              <a:srgbClr val="888888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BE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INTERSECTION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as the</a:t>
            </a:r>
            <a:endParaRPr lang="en-US" sz="24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signal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26280" y="37033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folds the target antigen's ECD and ranks targets on its geometry. No published method does this.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peer-reviewed 2025 tool (ImmunoTar) solving the same ranking task with a purely omics feature space is the strongest evidence the structural niche is open, not solved.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M.S. Machine Learning · F-004 pre-registered result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real pipeline, end to 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ESMFold — not a wrapper. 79 of 82 targets folded; the three that can't be folded on any available hardware are surfaced as a finding, not hidden.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084832" cy="265176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0DACC"/>
            </a:solidFill>
            <a:prstDash val="solid"/>
          </a:ln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06040"/>
            <a:ext cx="548640" cy="5486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82-target cohort; ECD span sliced per target from UniProt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47188" y="3566160"/>
            <a:ext cx="155448" cy="274320"/>
          </a:xfrm>
          <a:prstGeom prst="chevron">
            <a:avLst/>
          </a:prstGeom>
          <a:solidFill>
            <a:srgbClr val="3FA7B0"/>
          </a:solidFill>
          <a:ln/>
        </p:spPr>
      </p:sp>
      <p:sp>
        <p:nvSpPr>
          <p:cNvPr id="11" name="Shape 9"/>
          <p:cNvSpPr/>
          <p:nvPr/>
        </p:nvSpPr>
        <p:spPr>
          <a:xfrm>
            <a:off x="2816352" y="2377440"/>
            <a:ext cx="2084832" cy="265176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0DACC"/>
            </a:solidFill>
            <a:prstDash val="solid"/>
          </a:ln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44952" y="2606040"/>
            <a:ext cx="548640" cy="5486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13" name="Text 11"/>
          <p:cNvSpPr/>
          <p:nvPr/>
        </p:nvSpPr>
        <p:spPr>
          <a:xfrm>
            <a:off x="3044952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99232" y="33375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99232" y="370332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ESMFold-v1, single sequence, int8 trunk. Local + rented A6000 tier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14900" y="3566160"/>
            <a:ext cx="155448" cy="274320"/>
          </a:xfrm>
          <a:prstGeom prst="chevron">
            <a:avLst/>
          </a:prstGeom>
          <a:solidFill>
            <a:srgbClr val="3FA7B0"/>
          </a:solidFill>
          <a:ln/>
        </p:spPr>
      </p:sp>
      <p:sp>
        <p:nvSpPr>
          <p:cNvPr id="17" name="Shape 15"/>
          <p:cNvSpPr/>
          <p:nvPr/>
        </p:nvSpPr>
        <p:spPr>
          <a:xfrm>
            <a:off x="5084064" y="2377440"/>
            <a:ext cx="2084832" cy="265176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0DACC"/>
            </a:solidFill>
            <a:prstDash val="solid"/>
          </a:ln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12664" y="2606040"/>
            <a:ext cx="548640" cy="5486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19" name="Text 17"/>
          <p:cNvSpPr/>
          <p:nvPr/>
        </p:nvSpPr>
        <p:spPr>
          <a:xfrm>
            <a:off x="5312664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266944" y="33375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66944" y="370332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geometric features per ECD: Rg, SASA, ECD length, membrane-proximal pLDDT…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82612" y="3566160"/>
            <a:ext cx="155448" cy="274320"/>
          </a:xfrm>
          <a:prstGeom prst="chevron">
            <a:avLst/>
          </a:prstGeom>
          <a:solidFill>
            <a:srgbClr val="3FA7B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51776" y="2377440"/>
            <a:ext cx="2084832" cy="265176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0DACC"/>
            </a:solidFill>
            <a:prstDash val="solid"/>
          </a:ln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0376" y="2606040"/>
            <a:ext cx="548640" cy="5486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25" name="Text 23"/>
          <p:cNvSpPr/>
          <p:nvPr/>
        </p:nvSpPr>
        <p:spPr>
          <a:xfrm>
            <a:off x="7580376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534656" y="33375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34656" y="370332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logistic regression, leave-one-out percentiles, λ by nested CV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50324" y="3566160"/>
            <a:ext cx="155448" cy="274320"/>
          </a:xfrm>
          <a:prstGeom prst="chevron">
            <a:avLst/>
          </a:prstGeom>
          <a:solidFill>
            <a:srgbClr val="3FA7B0"/>
          </a:solidFill>
          <a:ln/>
        </p:spPr>
      </p:sp>
      <p:sp>
        <p:nvSpPr>
          <p:cNvPr id="29" name="Shape 27"/>
          <p:cNvSpPr/>
          <p:nvPr/>
        </p:nvSpPr>
        <p:spPr>
          <a:xfrm>
            <a:off x="9619488" y="2377440"/>
            <a:ext cx="2084832" cy="265176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E0DACC"/>
            </a:solidFill>
            <a:prstDash val="solid"/>
          </a:ln>
          <a:effectLst>
            <a:outerShdw sx="100000" sy="100000" kx="0" ky="0" algn="bl" rotWithShape="0" blurRad="63500" dist="25400" dir="5400000">
              <a:srgbClr val="CCCCCC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848088" y="2606040"/>
            <a:ext cx="548640" cy="548640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31" name="Text 29"/>
          <p:cNvSpPr/>
          <p:nvPr/>
        </p:nvSpPr>
        <p:spPr>
          <a:xfrm>
            <a:off x="9848088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802368" y="333756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802368" y="3703320"/>
            <a:ext cx="1719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ranking vs. the expression baseline — the comparison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names how it is known. Every structural number a reader sees is computed by this code — provable live in the miniature notebook, on a structure folded in front of you.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M.S. Machine Learning · F-004 pre-registered result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FIRST QUESTION — “WHY NOT ALL 82?”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last three: a plan, not a wall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all three can be folded.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three different problems, not one wall — one is a compute limitation we close now; two are resource-access problems held behind a named trigger.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  <a:effectLst>
            <a:outerShdw sx="100000" sy="100000" kx="0" ky="0" algn="bl" rotWithShape="0" blurRad="76200" dist="25400" dir="5400000">
              <a:srgbClr val="CCCCCC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0428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2E7D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042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NOW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7066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IGF2R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0906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ECD · ordered  ·  Compute limitation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438144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 transient A6000 rental ceiling — not a size wall. Re-run on the rental tier; escalate one rung (H100 80 GB) if needed. Same recipe as the other 79.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35254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Hours. One rental block, &lt;1 hr, ~$1/hr.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48646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asterisk — directly comparable.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210312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CCCCCC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30428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3042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27066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30906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4,030 aa · ordered cadherin  ·  Resource + method-seam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438144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single pass on 80 GB (cleanest if it runs), OR fold the cadherin-repeat stack in windows and stitch — always runs.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435254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A: one big pod. Route B: ~1–2 sessions.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48646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= a new boundary_method, labelled &amp; tested — like the Feature-4 caveat.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21040" y="210312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9050">
            <a:solidFill>
              <a:srgbClr val="B14A3B"/>
            </a:solidFill>
            <a:prstDash val="solid"/>
          </a:ln>
          <a:effectLst>
            <a:outerShdw sx="100000" sy="100000" kx="0" ky="0" algn="bl" rotWithShape="0" blurRad="76200" dist="25400" dir="5400000">
              <a:srgbClr val="CCCCCC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49640" y="230428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B14A3B"/>
          </a:solidFill>
          <a:ln/>
        </p:spPr>
      </p:sp>
      <p:sp>
        <p:nvSpPr>
          <p:cNvPr id="23" name="Text 21"/>
          <p:cNvSpPr/>
          <p:nvPr/>
        </p:nvSpPr>
        <p:spPr>
          <a:xfrm>
            <a:off x="8549640" y="23042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49640" y="27066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MUC16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549640" y="309067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1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14,451 aa · disordered mucin  ·  Biology, not compute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49640" y="3438144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end of the field's map, and largely intrinsically disordered. Fold ordered SEA domains, or the membrane-proximal window, or run it and report the disorder.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49640" y="435254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work ~1–2 sessions + an owner call on what a “MUC16 row” means.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49640" y="48646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is producible; a whole-ECD feature set may not be.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1109960" cy="749808"/>
          </a:xfrm>
          <a:prstGeom prst="roundRect">
            <a:avLst>
              <a:gd name="adj" fmla="val 7317"/>
            </a:avLst>
          </a:prstGeom>
          <a:solidFill>
            <a:srgbClr val="0E2A2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6235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are on ice: 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C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n=12 they don't touch the result; MUC16's un-foldability is a stronger honesty artifact than a filled cell. </a:t>
            </a:r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 is external: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C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validation of novelty, completeness becomes reproducibility — and a resourced lab (the UCLA path) is the natural executor.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M.S. Machine Learning · F-004 pre-registered result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STRUCTURE CONTRIBUTES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geometric features per extracellular domain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4F1EA"/>
          </a:solidFill>
          <a:ln w="12700">
            <a:solidFill>
              <a:srgbClr val="E0DA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20824"/>
            <a:ext cx="502920" cy="502920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20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 length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2402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antigen sits outside the membrane to bind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4F1EA"/>
          </a:solidFill>
          <a:ln w="12700">
            <a:solidFill>
              <a:srgbClr val="E0DA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2020824"/>
            <a:ext cx="502920" cy="502920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20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of gyration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2402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compactness of the extracellular domain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4F1EA"/>
          </a:solidFill>
          <a:ln w="12700">
            <a:solidFill>
              <a:srgbClr val="E0DA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392424"/>
            <a:ext cx="502920" cy="502920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pLDDT (ECD)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36118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 across the domain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4F1EA"/>
          </a:solidFill>
          <a:ln w="12700">
            <a:solidFill>
              <a:srgbClr val="E0DA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3392424"/>
            <a:ext cx="502920" cy="502920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Membrane-proximal pLDDT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near the membrane — epitope reachability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4F1EA"/>
          </a:solidFill>
          <a:ln w="12700">
            <a:solidFill>
              <a:srgbClr val="E0DA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4764024"/>
            <a:ext cx="502920" cy="502920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7640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4617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 (normalised)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8760" y="49834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Solvent-accessible surface: how exposed the domain is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44348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4F1EA"/>
          </a:solidFill>
          <a:ln w="12700">
            <a:solidFill>
              <a:srgbClr val="E0DA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8232" y="4764024"/>
            <a:ext cx="502920" cy="502920"/>
          </a:xfrm>
          <a:prstGeom prst="ellipse">
            <a:avLst/>
          </a:prstGeom>
          <a:solidFill>
            <a:srgbClr val="3FA7B0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47640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4617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Largest-patch fraction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49834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the biggest contiguous accessible surface patch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that can't be computed records null with a reason — never an imputed mean. Two features are pLDDT-derived; that becomes important on the caveat slide.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M.S. Machine Learning · F-004 pre-registered result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 before the result existed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both negative outcomes, and the operational parameters were fixed and dated before a single number was computed. This is what makes the null credible instead of convenient.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804672"/>
          </a:xfrm>
          <a:prstGeom prst="roundRect">
            <a:avLst>
              <a:gd name="adj" fmla="val 5682"/>
            </a:avLst>
          </a:prstGeom>
          <a:solidFill>
            <a:srgbClr val="1638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871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11880" y="2450592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C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logistic regression, 6 features, λ by nested CV inside each LOO fold. Fixed in decision D-041.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11064240" cy="804672"/>
          </a:xfrm>
          <a:prstGeom prst="roundRect">
            <a:avLst>
              <a:gd name="adj" fmla="val 5682"/>
            </a:avLst>
          </a:prstGeom>
          <a:solidFill>
            <a:srgbClr val="16383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198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object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3383280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C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leave-one-out percentile distribution with median and spread — a single summary number was barred as the headline.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42816"/>
            <a:ext cx="11064240" cy="804672"/>
          </a:xfrm>
          <a:prstGeom prst="roundRect">
            <a:avLst>
              <a:gd name="adj" fmla="val 5682"/>
            </a:avLst>
          </a:prstGeom>
          <a:solidFill>
            <a:srgbClr val="16383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3525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outcome 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4315968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C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structural axis is indistinguishable from the comparator, that is the result. Pre-registered to fire.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75504"/>
            <a:ext cx="11064240" cy="804672"/>
          </a:xfrm>
          <a:prstGeom prst="roundRect">
            <a:avLst>
              <a:gd name="adj" fmla="val 5682"/>
            </a:avLst>
          </a:prstGeom>
          <a:solidFill>
            <a:srgbClr val="16383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2852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outcome 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5248656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DC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correlation with the comparator would ALSO be a null — it would mean the features re-learned expression, not structure.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7F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M.S. Machine Learning · F-004 pre-registered result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· F-004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structural axis ranks modestly above chance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 percentile for each of the 12 labelled ADC-positive targets. Null expectation is 0.5.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77724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210312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0F6E78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0.607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412480" y="2852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percentile · 8 of 12 above 0.5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412480" y="3520440"/>
            <a:ext cx="3200400" cy="2606040"/>
          </a:xfrm>
          <a:prstGeom prst="roundRect">
            <a:avLst>
              <a:gd name="adj" fmla="val 2456"/>
            </a:avLst>
          </a:prstGeom>
          <a:solidFill>
            <a:srgbClr val="F4F1EA"/>
          </a:solidFill>
          <a:ln w="12700">
            <a:solidFill>
              <a:srgbClr val="E0DA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honestly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41080" y="4023360"/>
            <a:ext cx="2788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 upward shift, not a strong signal. 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significance test was pre-registered — at n=12 it would be underpowered, and choosing one after seeing the data is the degree of freedom pre-registration removes.</a:t>
            </a: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endParaRPr lang="en-US" sz="11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1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NECTIN4 (amber) sits 4th. Consistent with signal — and equally with a confound. Not narrated as a win.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M.S. Machine Learning · F-004 pre-registered result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TARGETS GO — AND 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target can leave the scoring set four different ways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“Held out” is not one thing. 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exit is a different reason with different logic — a physical limit, a confidence gate, a comparability firewall, or the scoring design itself. None is a silent drop.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0E2A2E"/>
          </a:solidFill>
          <a:ln/>
          <a:effectLst>
            <a:outerShdw sx="100000" sy="100000" kx="0" ky="0" algn="bl" rotWithShape="0" blurRad="50800" dist="25400" dir="5400000">
              <a:srgbClr val="CCCCCC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4884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cohort targets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rot="5400000">
            <a:off x="3081528" y="2916936"/>
            <a:ext cx="237744" cy="146304"/>
          </a:xfrm>
          <a:prstGeom prst="chevron">
            <a:avLst/>
          </a:prstGeom>
          <a:solidFill>
            <a:srgbClr val="3FA7B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081528"/>
            <a:ext cx="4572000" cy="749808"/>
          </a:xfrm>
          <a:prstGeom prst="roundRect">
            <a:avLst>
              <a:gd name="adj" fmla="val 7317"/>
            </a:avLst>
          </a:prstGeom>
          <a:solidFill>
            <a:srgbClr val="0F6E78"/>
          </a:solidFill>
          <a:ln/>
          <a:effectLst>
            <a:outerShdw sx="100000" sy="100000" kx="0" ky="0" algn="bl" rotWithShape="0" blurRad="50800" dist="25400" dir="5400000">
              <a:srgbClr val="CCCCCC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08152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folded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5400000">
            <a:off x="3081528" y="3849624"/>
            <a:ext cx="237744" cy="146304"/>
          </a:xfrm>
          <a:prstGeom prst="chevron">
            <a:avLst/>
          </a:prstGeom>
          <a:solidFill>
            <a:srgbClr val="3FA7B0"/>
          </a:solidFill>
          <a:ln/>
        </p:spPr>
      </p:sp>
      <p:sp>
        <p:nvSpPr>
          <p:cNvPr id="11" name="Shape 9"/>
          <p:cNvSpPr/>
          <p:nvPr/>
        </p:nvSpPr>
        <p:spPr>
          <a:xfrm>
            <a:off x="1280160" y="4014216"/>
            <a:ext cx="3840480" cy="749808"/>
          </a:xfrm>
          <a:prstGeom prst="roundRect">
            <a:avLst>
              <a:gd name="adj" fmla="val 7317"/>
            </a:avLst>
          </a:prstGeom>
          <a:solidFill>
            <a:srgbClr val="3FA7B0"/>
          </a:solidFill>
          <a:ln/>
          <a:effectLst>
            <a:outerShdw sx="100000" sy="100000" kx="0" ky="0" algn="bl" rotWithShape="0" blurRad="50800" dist="25400" dir="5400000">
              <a:srgbClr val="CCCCCC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80160" y="401421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&amp; above floor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081528" y="4782312"/>
            <a:ext cx="237744" cy="146304"/>
          </a:xfrm>
          <a:prstGeom prst="chevron">
            <a:avLst/>
          </a:prstGeom>
          <a:solidFill>
            <a:srgbClr val="3FA7B0"/>
          </a:solidFill>
          <a:ln/>
        </p:spPr>
      </p:sp>
      <p:sp>
        <p:nvSpPr>
          <p:cNvPr id="14" name="Shape 12"/>
          <p:cNvSpPr/>
          <p:nvPr/>
        </p:nvSpPr>
        <p:spPr>
          <a:xfrm>
            <a:off x="1783080" y="4946904"/>
            <a:ext cx="2834640" cy="749808"/>
          </a:xfrm>
          <a:prstGeom prst="roundRect">
            <a:avLst>
              <a:gd name="adj" fmla="val 7317"/>
            </a:avLst>
          </a:prstGeom>
          <a:solidFill>
            <a:srgbClr val="E8A33D"/>
          </a:solidFill>
          <a:ln/>
          <a:effectLst>
            <a:outerShdw sx="100000" sy="100000" kx="0" ky="0" algn="bl" rotWithShape="0" blurRad="50800" dist="25400" dir="5400000">
              <a:srgbClr val="CCCCCC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83080" y="494690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labelled positives — the fit set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8978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Leave-one-out: each of the 12 is scored against the other 11 — a target never sees itself.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2148840"/>
            <a:ext cx="5440680" cy="932688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5875">
            <a:solidFill>
              <a:srgbClr val="B14A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2496312"/>
            <a:ext cx="237744" cy="237744"/>
          </a:xfrm>
          <a:prstGeom prst="ellipse">
            <a:avLst/>
          </a:prstGeom>
          <a:solidFill>
            <a:srgbClr val="B14A3B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22585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1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LIMIT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84848" y="245973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Unfoldable   </a:t>
            </a:r>
            <a:pPr indent="0" marL="0">
              <a:buNone/>
            </a:pPr>
            <a:r>
              <a:rPr lang="en-US" sz="12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MUC16 (14,451 aa), FAT2 (4,030 aa)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84848" y="2697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folded as a single sequence on any hardware. Not a scoring choice — a size/disorder wall. Surfaced as a finding.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182112"/>
            <a:ext cx="5440680" cy="932688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5875">
            <a:solidFill>
              <a:srgbClr val="6A56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9088" y="3529584"/>
            <a:ext cx="237744" cy="237744"/>
          </a:xfrm>
          <a:prstGeom prst="ellipse">
            <a:avLst/>
          </a:prstGeom>
          <a:solidFill>
            <a:srgbClr val="6A5688"/>
          </a:solidFill>
          <a:ln/>
        </p:spPr>
      </p:sp>
      <p:sp>
        <p:nvSpPr>
          <p:cNvPr id="24" name="Text 22"/>
          <p:cNvSpPr/>
          <p:nvPr/>
        </p:nvSpPr>
        <p:spPr>
          <a:xfrm>
            <a:off x="6784848" y="32918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A5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84848" y="34930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pLDDT floor   </a:t>
            </a:r>
            <a:pPr indent="0" marL="0">
              <a:buNone/>
            </a:pPr>
            <a:r>
              <a:rPr lang="en-US" sz="12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CXCR5 (47.63 &lt; 50)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84848" y="373075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Folded fine, but structure confidence is too low to trust its geometry. A quality gate on the features, not the method.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4215384"/>
            <a:ext cx="5440680" cy="932688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5875">
            <a:solidFill>
              <a:srgbClr val="0F6E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19088" y="4562856"/>
            <a:ext cx="237744" cy="237744"/>
          </a:xfrm>
          <a:prstGeom prst="ellipse">
            <a:avLst/>
          </a:prstGeom>
          <a:solidFill>
            <a:srgbClr val="0F6E78"/>
          </a:solidFill>
          <a:ln/>
        </p:spPr>
      </p:sp>
      <p:sp>
        <p:nvSpPr>
          <p:cNvPr id="29" name="Text 27"/>
          <p:cNvSpPr/>
          <p:nvPr/>
        </p:nvSpPr>
        <p:spPr>
          <a:xfrm>
            <a:off x="6784848" y="43251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COMPARABILITY FIREWALL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84848" y="45262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 — different boundary method   </a:t>
            </a:r>
            <a:pPr indent="0" marL="0">
              <a:buNone/>
            </a:pPr>
            <a:r>
              <a:rPr lang="en-US" sz="12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whole-method targets, e.g. MSLN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84848" y="476402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Folded — but by the whole-chain method, not sliced-ECD. Its membrane-proximal feature isn't comparable. Held out to avoid comparing apples to oranges.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5248656"/>
            <a:ext cx="5440680" cy="932688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9088" y="5596128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4" name="Text 32"/>
          <p:cNvSpPr/>
          <p:nvPr/>
        </p:nvSpPr>
        <p:spPr>
          <a:xfrm>
            <a:off x="6784848" y="53583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DESIGN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84848" y="555955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is NOT a reason   </a:t>
            </a:r>
            <a:pPr indent="0" marL="0">
              <a:buNone/>
            </a:pPr>
            <a:r>
              <a:rPr lang="en-US" sz="12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rental-tier folds stay ranked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84848" y="579729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 is never held out for being big or costly to fold. A rental-tier sliced-ECD fold is fully ranked. Held-out is about method, never hardware.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6053328"/>
            <a:ext cx="11109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exit is reachable in the UI with its reason — the partition sums to 82, always, asserted by a test. Nothing is dropped silently.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M.S. Machine Learning · F-004 pre-registered result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NEGATIVE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null fired. One did not. Together they are the finding.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9050">
            <a:solidFill>
              <a:srgbClr val="B14A3B"/>
            </a:solidFill>
            <a:prstDash val="solid"/>
          </a:ln>
          <a:effectLst>
            <a:outerShdw sx="100000" sy="100000" kx="0" ky="0" algn="bl" rotWithShape="0" blurRad="76200" dist="25400" dir="5400000">
              <a:srgbClr val="CCCCC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1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1 — FIRES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distinguishable from the comparator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8 held-out positives, structural vs. expression: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  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0.573  ·  median 0.625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 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0.563  ·  median 0.750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even reverses between mean and median — which is the cleanest possible statement of “not distinguishable” at this size. The structural axis adds nothing measurable at n=12. That is the result.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  <a:effectLst>
            <a:outerShdw sx="100000" sy="100000" kx="0" ky="0" algn="bl" rotWithShape="0" blurRad="76200" dist="25400" dir="5400000">
              <a:srgbClr val="CCCCC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2 — DOES NOT FIRE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proxy for the comparator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246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−0.048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6583680" y="41605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 over N=12. A strong correlation would have meant the features just re-learned expression and attention. They didn't — the structural axis measures something largely orthogonal to the comparator.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M.S. Machine Learning · F-004 pre-registered result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931920"/>
            <a:ext cx="3840480" cy="3840480"/>
          </a:xfrm>
          <a:prstGeom prst="ellipse">
            <a:avLst/>
          </a:prstGeom>
          <a:solidFill>
            <a:srgbClr val="0F6E78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FINDING, SAID ONCE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Orthogonal, but unproven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E6F2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structural score ranks attempted-ADC targets modestly above chance, is not distinguishable from an expression-and-attention comparator, and is not a proxy for it. At twelve positives, the axis measures something different — and cannot be shown to add anything.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is more informative than either null alone: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2519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1638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434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“Re-learned the comparator” was the likely prior.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9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near-zero correlation rules it out. The features are not a structural repackaging of expression.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42519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1638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4434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“Orthogonal but unproven” is a real, publishable shape.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5166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B9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says: here is an independent axis; whether it adds value needs more labels, not more parameters.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7F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M.S. Machine Learning · F-004 pre-registered result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B1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A REVIEWER WILL ASK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confound we name instead of hide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600200"/>
          </a:xfrm>
          <a:prstGeom prst="roundRect">
            <a:avLst>
              <a:gd name="adj" fmla="val 4000"/>
            </a:avLst>
          </a:prstGeom>
          <a:solidFill>
            <a:srgbClr val="FBF3E7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9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pLDDT may carry attention. 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six features are pLDDT-derived. ESMFold's confidence partly reflects how well-represented a protein family is in its training data — which tracks research attention — which tracks having been attempted as an ADC. So the score could proxy attention through the network's own confidence rather than through structure.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recorded as open, not resolved: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4F1EA"/>
          </a:solidFill>
          <a:ln w="12700">
            <a:solidFill>
              <a:srgbClr val="E0DA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Argues against 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553712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2 (Spearman ≈ −0.05) says the score is not tracking the comparator — the best evidence we have that it isn't just attention.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0248" y="397764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4F1EA"/>
          </a:solidFill>
          <a:ln w="12700">
            <a:solidFill>
              <a:srgbClr val="E0DA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1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weakens that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98848" y="4553712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comparator is a weak stand-in for attention — it takes only two values across 17 targets. So Null 2 can't fully close the question.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91856" y="397764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4F1EA"/>
          </a:solidFill>
          <a:ln w="12700">
            <a:solidFill>
              <a:srgbClr val="E0DA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0456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stays open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0456" y="4553712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as an open confound, not a solved one. The famous targets at the top are consistent with signal AND with this — so they are not narrated as validation.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M.S. Machine Learning · F-004 pre-registered result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INVENTORY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built — and what is deliberately not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DEFENSIBLE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ESMFold pipeline, 79/82 folded</a:t>
            </a:r>
            <a:endParaRPr lang="en-US" sz="1450" dirty="0"/>
          </a:p>
          <a:p>
            <a:pPr algn="l" indent="0" marL="0">
              <a:lnSpc>
                <a:spcPts val="1800"/>
              </a:lnSpc>
              <a:buNone/>
            </a:pPr>
            <a:endParaRPr lang="en-US" sz="14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Six-feature structural scorer, fit &amp; persisted</a:t>
            </a:r>
            <a:endParaRPr lang="en-US" sz="1450" dirty="0"/>
          </a:p>
          <a:p>
            <a:pPr algn="l" indent="0" marL="0">
              <a:lnSpc>
                <a:spcPts val="1800"/>
              </a:lnSpc>
              <a:buNone/>
            </a:pPr>
            <a:endParaRPr lang="en-US" sz="14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pre-registered nulls computed</a:t>
            </a:r>
            <a:endParaRPr lang="en-US" sz="1450" dirty="0"/>
          </a:p>
          <a:p>
            <a:pPr algn="l" indent="0" marL="0">
              <a:lnSpc>
                <a:spcPts val="1800"/>
              </a:lnSpc>
              <a:buNone/>
            </a:pPr>
            <a:endParaRPr lang="en-US" sz="14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UI: every number derived from an API, proven by tests</a:t>
            </a:r>
            <a:endParaRPr lang="en-US" sz="1450" dirty="0"/>
          </a:p>
          <a:p>
            <a:pPr algn="l" indent="0" marL="0">
              <a:lnSpc>
                <a:spcPts val="1800"/>
              </a:lnSpc>
              <a:buNone/>
            </a:pPr>
            <a:endParaRPr lang="en-US" sz="14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miniature notebook — folds NECTIN4 in front of you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5875">
            <a:solidFill>
              <a:srgbClr val="5C6B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— AND STRONGER FOR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ranking table columns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rank, delta, disagreement classes, per-feature attribution — stored, not yet rendered. A display gap, named on screen, not a data gap.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significance claim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was pre-registered; none is made. n=12 would be underpowered.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labelled targets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roster floor of 12 is the binding constraint. The honest path to a stronger result is more data, not more model.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M.S. Machine Learning · F-004 pre-registered result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566160"/>
            <a:ext cx="4572000" cy="4572000"/>
          </a:xfrm>
          <a:prstGeom prst="ellipse">
            <a:avLst/>
          </a:prstGeom>
          <a:solidFill>
            <a:srgbClr val="0F6E7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structural axis for ADC targets —</a:t>
            </a:r>
            <a:endParaRPr lang="en-US" sz="3200" dirty="0"/>
          </a:p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an honest first measurement of 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296265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9260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niche no published method occupies: structure as the ranking signal for ADC targets.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85800" y="3675888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63931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pre-registered result: orthogonal to expression, not a proxy for it, unproven at n=12.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85800" y="438912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35254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confound named, not hidden — and a clear path forward: more labels, not more parameters.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85800" y="510235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06577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is visible about what it cannot do as much as what it can.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proof: </a:t>
            </a:r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9FB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notebook folds NECTIN4 and scores it with the same code that runs in production. The full novelty backing is in the accompanying literature review.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7F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M.S. Machine Learning · F-004 pre-registered result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2026-08-01T16:02:48Z</dcterms:created>
  <dcterms:modified xsi:type="dcterms:W3CDTF">2026-08-01T16:02:48Z</dcterms:modified>
</cp:coreProperties>
</file>